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0450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320040" cy="50337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Allocation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Coloring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5029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Compiler Back-End · Register Assignment &amp; Allocation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06324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Desenho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de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— L.EIC016 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931920"/>
            <a:ext cx="5029200" cy="777240"/>
          </a:xfrm>
          <a:prstGeom prst="rect">
            <a:avLst/>
          </a:prstGeom>
          <a:solidFill>
            <a:srgbClr val="162D4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777240" y="405993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Guilherme Silva , Tomás Silva , Pedro Meireles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Turma 4  ·  Grupo 8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34340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 2026</a:t>
            </a:r>
            <a:endParaRPr lang="en-US" sz="1100" dirty="0"/>
          </a:p>
        </p:txBody>
      </p:sp>
      <p:pic>
        <p:nvPicPr>
          <p:cNvPr id="13" name="Imagem 12" descr="FEUP - Cluster Habitat Sustentável">
            <a:extLst>
              <a:ext uri="{FF2B5EF4-FFF2-40B4-BE49-F238E27FC236}">
                <a16:creationId xmlns:a16="http://schemas.microsoft.com/office/drawing/2014/main" id="{A87F9328-0C2F-A16B-04AA-57A43506E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501" y="4357116"/>
            <a:ext cx="2108499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Estrutura </a:t>
            </a:r>
            <a:r>
              <a:rPr lang="en-US" sz="12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Apresentação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36576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11978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Problema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04672" y="1389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de registos no compilador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066544"/>
            <a:ext cx="347472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36576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04672" y="2075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" y="22677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CFG, Live Ranges, Webs, Grafo de Interferência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944368"/>
            <a:ext cx="347472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36576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" y="2953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Base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4672" y="31455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Greedy Graph 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Coloring 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3822192"/>
            <a:ext cx="347472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9" name="Text 17"/>
          <p:cNvSpPr/>
          <p:nvPr/>
        </p:nvSpPr>
        <p:spPr>
          <a:xfrm>
            <a:off x="36576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04672" y="38313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Spilling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4672" y="4023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Alocação com 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Spilling 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188720"/>
            <a:ext cx="347472" cy="3474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4754880" y="1188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93792" y="119786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Splitting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193792" y="1389888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Alocação com 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Splitting 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066544"/>
            <a:ext cx="347472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4754880" y="20665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93792" y="207568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Livre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193792" y="2267712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Solução 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própria 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2944368"/>
            <a:ext cx="347472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475488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93792" y="295351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&amp; Demo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93792" y="3145536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CLI, Batch mode, Output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822192"/>
            <a:ext cx="347472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Text 33"/>
          <p:cNvSpPr/>
          <p:nvPr/>
        </p:nvSpPr>
        <p:spPr>
          <a:xfrm>
            <a:off x="4754880" y="38221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93792" y="383133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93792" y="40233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e análise de complexidade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0" y="1097280"/>
            <a:ext cx="0" cy="3840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 Problema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Porque é importante a alocação de registos?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475488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O que é alocação de registos?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Mapeamento de variáveis de alto nível para registos físicos do processador, minimizando acessos à memória e maximizando performance.
</a:t>
            </a:r>
            <a:endParaRPr lang="en-US" sz="1400" dirty="0"/>
          </a:p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Representação intermédia 3-endereços
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</a:rPr>
              <a:t>Instruções da forma  a = b op c  que servem de ponte entre código fonte e código máquina.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0" y="1097280"/>
            <a:ext cx="3200400" cy="5486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5559552" y="1133856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Fonte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59552" y="13716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 sum, i, n;  for(...)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86600" y="1645920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1" name="Text 9"/>
          <p:cNvSpPr/>
          <p:nvPr/>
        </p:nvSpPr>
        <p:spPr>
          <a:xfrm>
            <a:off x="6949440" y="169164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0" y="1847088"/>
            <a:ext cx="320040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5559552" y="1883664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3-Endereços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59552" y="212140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sum=0; i=0; t0=A[i]; ...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086600" y="2395728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949440" y="244144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0" y="2596896"/>
            <a:ext cx="3200400" cy="5486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5559552" y="263347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Ranges / Webs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59552" y="287121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vivacidade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086600" y="3145536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6949440" y="31912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0" y="3346704"/>
            <a:ext cx="320040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5559552" y="338328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Interferência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59552" y="36210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Nós = webs, arestas = conflitos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86600" y="3895344"/>
            <a:ext cx="0" cy="20116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6949440" y="394106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0" y="4096512"/>
            <a:ext cx="3200400" cy="5486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5559552" y="4133088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Coloring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59552" y="437083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 = registo físico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65760" y="448056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365760" y="4480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NP-Completo → Heurísticas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560320" y="4480560"/>
            <a:ext cx="2011680" cy="347472"/>
          </a:xfrm>
          <a:prstGeom prst="roundRect">
            <a:avLst>
              <a:gd name="adj" fmla="val 2105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2560320" y="4480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mínimo de registos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Dados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Representação interna — grafo de interferência como estrutura central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65176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29768" y="10881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Ranges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13990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pontos do programa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'+' = definição, '-' = último uso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existir múltiplos por variável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Fusão quando se tocam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108960" y="105156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1" name="Shape 9"/>
          <p:cNvSpPr/>
          <p:nvPr/>
        </p:nvSpPr>
        <p:spPr>
          <a:xfrm>
            <a:off x="3108960" y="1051560"/>
            <a:ext cx="265176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3218688" y="108813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18688" y="1399032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União de live ranges que se sobrepõem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Identificadas por greedy merging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de alocação de registo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Podem ser divididas (splitting)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897880" y="1051560"/>
            <a:ext cx="283464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5" name="Shape 13"/>
          <p:cNvSpPr/>
          <p:nvPr/>
        </p:nvSpPr>
        <p:spPr>
          <a:xfrm>
            <a:off x="5897880" y="1051560"/>
            <a:ext cx="283464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6" name="Text 14"/>
          <p:cNvSpPr/>
          <p:nvPr/>
        </p:nvSpPr>
        <p:spPr>
          <a:xfrm>
            <a:off x="6007608" y="108813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Interferência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07608" y="1399032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por cada web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Aresta: duas webs coexistem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na estrutura de grafo das aulas TP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Extensões justificadas para o algoritmo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926080" y="1508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2563EB"/>
                </a:solidFill>
              </a:rPr>
              <a:t>→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742432" y="1508760"/>
            <a:ext cx="228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EA5E9"/>
                </a:solidFill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20040" y="2651760"/>
            <a:ext cx="8412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320040" y="2651760"/>
            <a:ext cx="84124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457200" y="267004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Control-Flow Graph (CFG) &amp; Basic Blocks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29992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Block: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331720" y="2999232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máxima de instruções sem saltos internos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34290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Instruction: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331720" y="3429000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de um BB: 1ª instrução, alvo de goto, ou instrução após goto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38587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Arestas CFG: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331720" y="3858768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de controlo entre BBs (condicionais, incondicionais, call/ret)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28853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Interferência: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331720" y="4288536"/>
            <a:ext cx="6217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Definição e uso na mesma instrução → não interferem (subtileza implementada)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T2.1 — Algoritmo Base de Alocação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Graph Coloring com N registos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6634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466344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8" name="Text 6"/>
          <p:cNvSpPr/>
          <p:nvPr/>
        </p:nvSpPr>
        <p:spPr>
          <a:xfrm>
            <a:off x="438912" y="106984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Graph Coloring — Fase 1: Simplificação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141732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o grafo não estiver vazio: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Para cada nó n: se grau(n) &lt; N → remover e empilhar em 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96596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Se todos os nós têm grau ≥ N → selecionar nó K para spill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24028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Remover K do grafo (sem cor atribuída)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466344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4" name="Text 12"/>
          <p:cNvSpPr/>
          <p:nvPr/>
        </p:nvSpPr>
        <p:spPr>
          <a:xfrm>
            <a:off x="438912" y="2578608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Graph Coloring — Fase 2: Coloração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289864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a stack S não estiver vazia: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17296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n = desempilhar nó de 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344728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Atribuir cor ≠ cores dos vizinhos de 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72160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(sempre possível pois grau(n) &lt; N quando empilhado)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3995928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Retornar N e a atribuição de cores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166360" y="105156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1" name="Shape 19"/>
          <p:cNvSpPr/>
          <p:nvPr/>
        </p:nvSpPr>
        <p:spPr>
          <a:xfrm>
            <a:off x="5166360" y="1051560"/>
            <a:ext cx="3566160" cy="29260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5276088" y="108813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Parâmetro de Input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76088" y="139903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basic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número de registos fornecido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N do mínimo (clique máx.) até grau máximo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166360" y="2377440"/>
            <a:ext cx="35661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5" name="Shape 23"/>
          <p:cNvSpPr/>
          <p:nvPr/>
        </p:nvSpPr>
        <p:spPr>
          <a:xfrm>
            <a:off x="5166360" y="2377440"/>
            <a:ext cx="356616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6" name="Text 24"/>
          <p:cNvSpPr/>
          <p:nvPr/>
        </p:nvSpPr>
        <p:spPr>
          <a:xfrm>
            <a:off x="5276088" y="241401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Sucesso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76088" y="2724912"/>
            <a:ext cx="3383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N registos, mapeamento web → r0..rN-1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 coloridas com cores distintas dos vizinhos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de output no formato especificado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3703320"/>
            <a:ext cx="35661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29" name="Shape 27"/>
          <p:cNvSpPr/>
          <p:nvPr/>
        </p:nvSpPr>
        <p:spPr>
          <a:xfrm>
            <a:off x="5166360" y="3703320"/>
            <a:ext cx="3566160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0" name="Text 28"/>
          <p:cNvSpPr/>
          <p:nvPr/>
        </p:nvSpPr>
        <p:spPr>
          <a:xfrm>
            <a:off x="5276088" y="3739896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Insucesso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76088" y="4050792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emitido para a consola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com registers: 0 e  M: webX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 forçado de nós não coloríveis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4663440"/>
            <a:ext cx="466344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3" name="Text 31"/>
          <p:cNvSpPr/>
          <p:nvPr/>
        </p:nvSpPr>
        <p:spPr>
          <a:xfrm>
            <a:off x="438912" y="4681728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Complexidade: O(V + E) por iteração  ·  O(V · (V + E)) no pior caso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T2.2 — Register Allocation com Web Spilling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é possível colorir o grafo com N cores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023360" cy="274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38912" y="1069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Web Spilling?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web é marcada como SPILLED: o seu valor é mantido em memória em vez de num registo físico. O nó correspondente e as suas arestas são removidos do grafo de interferência, simplificando-o e permitindo a coloração com N cores.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Input: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spilling, K  (máx. K webs a fazer spill)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40233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38912" y="285292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Estratégia de Seleção de Webs para Spill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200400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320040" y="3200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0664" y="32004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 com 1 web e aumentar apenas se necessário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547872"/>
            <a:ext cx="347472" cy="34747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320040" y="35478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" y="354787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Escolher web com maior grau no grafo (mais conflitos)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895344"/>
            <a:ext cx="347472" cy="34747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320040" y="38953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0664" y="389534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empates: web com maior número de pontos de programa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242816"/>
            <a:ext cx="347472" cy="34747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1" name="Text 19"/>
          <p:cNvSpPr/>
          <p:nvPr/>
        </p:nvSpPr>
        <p:spPr>
          <a:xfrm>
            <a:off x="320040" y="4242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0664" y="424281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Re-tentar coloração após cada spill individual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4590288"/>
            <a:ext cx="347472" cy="347472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4" name="Text 22"/>
          <p:cNvSpPr/>
          <p:nvPr/>
        </p:nvSpPr>
        <p:spPr>
          <a:xfrm>
            <a:off x="320040" y="45902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" y="459028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combinação ótima encontrada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1051560"/>
            <a:ext cx="4114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7" name="Text 25"/>
          <p:cNvSpPr/>
          <p:nvPr/>
        </p:nvSpPr>
        <p:spPr>
          <a:xfrm>
            <a:off x="4663440" y="1069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do Algoritmo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0" y="1463040"/>
            <a:ext cx="411480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9" name="Text 27"/>
          <p:cNvSpPr/>
          <p:nvPr/>
        </p:nvSpPr>
        <p:spPr>
          <a:xfrm>
            <a:off x="4663440" y="15087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Tentar coloração básica com N cores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46520" y="184708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0" y="2011680"/>
            <a:ext cx="41148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2" name="Text 30"/>
          <p:cNvSpPr/>
          <p:nvPr/>
        </p:nvSpPr>
        <p:spPr>
          <a:xfrm>
            <a:off x="4663440" y="205740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Coloração possível? → Sucesso!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46520" y="239572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0" y="2560320"/>
            <a:ext cx="411480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5" name="Text 33"/>
          <p:cNvSpPr/>
          <p:nvPr/>
        </p:nvSpPr>
        <p:spPr>
          <a:xfrm>
            <a:off x="4663440" y="2606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Selecionar web candidata para spill (grau máximo)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46520" y="2944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0" y="310896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8" name="Text 36"/>
          <p:cNvSpPr/>
          <p:nvPr/>
        </p:nvSpPr>
        <p:spPr>
          <a:xfrm>
            <a:off x="4663440" y="3154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Remover web do grafo + marcar 'M'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46520" y="349300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0" y="3657600"/>
            <a:ext cx="4114800" cy="3840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1" name="Text 39"/>
          <p:cNvSpPr/>
          <p:nvPr/>
        </p:nvSpPr>
        <p:spPr>
          <a:xfrm>
            <a:off x="4663440" y="370332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Repetir até colorir ou atingir limite K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46520" y="404164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↓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572000" y="4206240"/>
            <a:ext cx="41148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4" name="Text 42"/>
          <p:cNvSpPr/>
          <p:nvPr/>
        </p:nvSpPr>
        <p:spPr>
          <a:xfrm>
            <a:off x="4663440" y="425196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limite atingido sem sucesso → erro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T2.3 — Register Allocation com Web Splitting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Dividir webs para reduzir interferências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411480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438912" y="106984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Web Splitting?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web é dividida em duas ou mais sub-webs em pontos estratégicos. O compilador insere instruções de save/restore nos limites da divisão. Cada sub-web é um nó independente no grafo, potencialmente com menos interferências.
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Input: 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algorithm: splitting, K  (máx. K webs a dividir)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2926080"/>
            <a:ext cx="411480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0" name="Text 8"/>
          <p:cNvSpPr/>
          <p:nvPr/>
        </p:nvSpPr>
        <p:spPr>
          <a:xfrm>
            <a:off x="438912" y="294436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 Face ao Spilling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32918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2" name="Text 10"/>
          <p:cNvSpPr/>
          <p:nvPr/>
        </p:nvSpPr>
        <p:spPr>
          <a:xfrm>
            <a:off x="320040" y="3291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Spilling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83080" y="33284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inteira → memória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749040"/>
            <a:ext cx="1371600" cy="320040"/>
          </a:xfrm>
          <a:prstGeom prst="roundRect">
            <a:avLst>
              <a:gd name="adj" fmla="val 2285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5" name="Text 13"/>
          <p:cNvSpPr/>
          <p:nvPr/>
        </p:nvSpPr>
        <p:spPr>
          <a:xfrm>
            <a:off x="320040" y="3749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Splitting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37856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dividida → sub-webs com registos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343400"/>
            <a:ext cx="4114800" cy="274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8" name="Text 16"/>
          <p:cNvSpPr/>
          <p:nvPr/>
        </p:nvSpPr>
        <p:spPr>
          <a:xfrm>
            <a:off x="438912" y="4361688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Custo: instruções extra de save/restore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1051560"/>
            <a:ext cx="402336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773168" y="1069848"/>
            <a:ext cx="3840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Seleção &amp; Ponto de Corte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2" name="Text 20"/>
          <p:cNvSpPr/>
          <p:nvPr/>
        </p:nvSpPr>
        <p:spPr>
          <a:xfrm>
            <a:off x="4791456" y="148132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com 1 web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91456" y="17007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Aumentar apenas se necessário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139696"/>
            <a:ext cx="54864" cy="5029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5" name="Text 23"/>
          <p:cNvSpPr/>
          <p:nvPr/>
        </p:nvSpPr>
        <p:spPr>
          <a:xfrm>
            <a:off x="4791456" y="2157984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com maior grau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91456" y="23774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interferências = maior impacto do split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2816352"/>
            <a:ext cx="54864" cy="502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8" name="Text 26"/>
          <p:cNvSpPr/>
          <p:nvPr/>
        </p:nvSpPr>
        <p:spPr>
          <a:xfrm>
            <a:off x="4791456" y="283464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corte ótimo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91456" y="30540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número de arestas entre sub-webs geradas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493008"/>
            <a:ext cx="54864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1" name="Text 29"/>
          <p:cNvSpPr/>
          <p:nvPr/>
        </p:nvSpPr>
        <p:spPr>
          <a:xfrm>
            <a:off x="4791456" y="351129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Verificação de conectividade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91456" y="37307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Sub-webs devem manter coerência de definição/uso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4169664"/>
            <a:ext cx="54864" cy="5029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4" name="Text 32"/>
          <p:cNvSpPr/>
          <p:nvPr/>
        </p:nvSpPr>
        <p:spPr>
          <a:xfrm>
            <a:off x="4791456" y="418795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Re-tentativa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1456" y="4407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cada split, nova tentativa de coloração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54864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Text 1"/>
          <p:cNvSpPr/>
          <p:nvPr/>
        </p:nvSpPr>
        <p:spPr>
          <a:xfrm>
            <a:off x="502920" y="201168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T2.4 — Algoritmo de Alocação Próprio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49808"/>
            <a:ext cx="83210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502920" y="80467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DSATUR com backtracking e spilling combinatório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1005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Abordagem: Combinação Adaptativa de Heurísticas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743200" cy="2926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9" name="Text 7"/>
          <p:cNvSpPr/>
          <p:nvPr/>
        </p:nvSpPr>
        <p:spPr>
          <a:xfrm>
            <a:off x="429768" y="14538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Coloração DSATUR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764792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Escolhe o nó não colorido com maior saturação (nº cores distintas nos vizinhos)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caso de empate: maior grau no subgrafo ativo; depois menor id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Backtracking: tenta cada cor disponível e retrocede em conflito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coloração ótima sempre que o grafo seja colorível com N cores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46120" y="14173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2" name="Shape 10"/>
          <p:cNvSpPr/>
          <p:nvPr/>
        </p:nvSpPr>
        <p:spPr>
          <a:xfrm>
            <a:off x="3246120" y="1417320"/>
            <a:ext cx="2743200" cy="2926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3" name="Text 11"/>
          <p:cNvSpPr/>
          <p:nvPr/>
        </p:nvSpPr>
        <p:spPr>
          <a:xfrm>
            <a:off x="3355848" y="14538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— Coloração com Menor Índice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55848" y="1764792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cor com menor índice disponível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Considerar saturação do nó (nº cores distintas de vizinhos)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 reutilização de registos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resultado que greedy simples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pt-PT"/>
          </a:p>
        </p:txBody>
      </p:sp>
      <p:sp>
        <p:nvSpPr>
          <p:cNvPr id="16" name="Shape 14"/>
          <p:cNvSpPr/>
          <p:nvPr/>
        </p:nvSpPr>
        <p:spPr>
          <a:xfrm>
            <a:off x="5989320" y="1417320"/>
            <a:ext cx="2743200" cy="2926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17" name="Text 15"/>
          <p:cNvSpPr/>
          <p:nvPr/>
        </p:nvSpPr>
        <p:spPr>
          <a:xfrm>
            <a:off x="6099048" y="145389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— Spilling Combinatório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99048" y="1764792"/>
            <a:ext cx="256032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DSATUR falhar: spilling combinatório idêntico ao T2.2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Seleciona webs por grau + nº de live lines (sem splitting)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 combinações de 1, 2, … webs até coloração ser possível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Minimiza o número de webs em memória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474720"/>
            <a:ext cx="841248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0" name="Text 18"/>
          <p:cNvSpPr/>
          <p:nvPr/>
        </p:nvSpPr>
        <p:spPr>
          <a:xfrm>
            <a:off x="438912" y="34930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Algoritmo Base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94760"/>
          <a:ext cx="8412480" cy="12192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 Base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Algoritmo Livre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Ordenação de nós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Arbitrária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Dinâmica por saturação (DSATUR)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Fallback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Spill simples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Spill combinatório (DSATUR)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 registos usados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(pode ser subótimo)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Minimizado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Restrição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 interferentes ≠ mesmo registo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 (garantido)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320040" cy="50337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640080" y="2286000"/>
            <a:ext cx="5029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BE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interativo  ·  Batch mode  ·  Ficheiros de input/output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4" name="Shape 2"/>
          <p:cNvSpPr/>
          <p:nvPr/>
        </p:nvSpPr>
        <p:spPr>
          <a:xfrm>
            <a:off x="0" y="54864"/>
            <a:ext cx="320040" cy="50337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 3"/>
          <p:cNvSpPr/>
          <p:nvPr/>
        </p:nvSpPr>
        <p:spPr>
          <a:xfrm>
            <a:off x="640080" y="4572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5029200" cy="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7" name="Text 5"/>
          <p:cNvSpPr/>
          <p:nvPr/>
        </p:nvSpPr>
        <p:spPr>
          <a:xfrm>
            <a:off x="640080" y="1280160"/>
            <a:ext cx="3657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8" name="Text 6"/>
          <p:cNvSpPr/>
          <p:nvPr/>
        </p:nvSpPr>
        <p:spPr>
          <a:xfrm>
            <a:off x="1078992" y="1268160"/>
            <a:ext cx="20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BEAFE"/>
                </a:solidFill>
                <a:latin typeface="Calibri" pitchFamily="34" charset="0"/>
              </a:rPr>
              <a:t>T1 completo</a:t>
            </a:r>
          </a:p>
        </p:txBody>
      </p:sp>
      <p:sp>
        <p:nvSpPr>
          <p:cNvPr id="9" name="Text 7"/>
          <p:cNvSpPr/>
          <p:nvPr/>
        </p:nvSpPr>
        <p:spPr>
          <a:xfrm>
            <a:off x="1078992" y="146816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</a:rPr>
              <a:t>Menu interativo, batch mode, parsing robusto, Doxygen — sem algoritmo de alocação</a:t>
            </a:r>
          </a:p>
        </p:txBody>
      </p:sp>
      <p:sp>
        <p:nvSpPr>
          <p:cNvPr id="10" name="Text 8"/>
          <p:cNvSpPr/>
          <p:nvPr/>
        </p:nvSpPr>
        <p:spPr>
          <a:xfrm>
            <a:off x="640080" y="1720000"/>
            <a:ext cx="3657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1" name="Text 9"/>
          <p:cNvSpPr/>
          <p:nvPr/>
        </p:nvSpPr>
        <p:spPr>
          <a:xfrm>
            <a:off x="1078992" y="1710000"/>
            <a:ext cx="2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BEAFE"/>
                </a:solidFill>
                <a:latin typeface="Calibri" pitchFamily="34" charset="0"/>
              </a:rPr>
              <a:t>T2.1 — Básico</a:t>
            </a:r>
          </a:p>
        </p:txBody>
      </p:sp>
      <p:sp>
        <p:nvSpPr>
          <p:cNvPr id="12" name="Text 10"/>
          <p:cNvSpPr/>
          <p:nvPr/>
        </p:nvSpPr>
        <p:spPr>
          <a:xfrm>
            <a:off x="1078992" y="1910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</a:rPr>
              <a:t>Greedy coloring — O(N·V·(V+E))  onde N = registos, V = webs, E = arestas de interferência</a:t>
            </a:r>
          </a:p>
        </p:txBody>
      </p:sp>
      <p:sp>
        <p:nvSpPr>
          <p:cNvPr id="13" name="Text 11"/>
          <p:cNvSpPr/>
          <p:nvPr/>
        </p:nvSpPr>
        <p:spPr>
          <a:xfrm>
            <a:off x="640080" y="2160000"/>
            <a:ext cx="3657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4" name="Text 12"/>
          <p:cNvSpPr/>
          <p:nvPr/>
        </p:nvSpPr>
        <p:spPr>
          <a:xfrm>
            <a:off x="1078992" y="2150000"/>
            <a:ext cx="2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BEAFE"/>
                </a:solidFill>
                <a:latin typeface="Calibri" pitchFamily="34" charset="0"/>
              </a:rPr>
              <a:t>T2.2 — Spilling</a:t>
            </a:r>
          </a:p>
        </p:txBody>
      </p:sp>
      <p:sp>
        <p:nvSpPr>
          <p:cNvPr id="15" name="Text 13"/>
          <p:cNvSpPr/>
          <p:nvPr/>
        </p:nvSpPr>
        <p:spPr>
          <a:xfrm>
            <a:off x="1078992" y="2350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</a:rPr>
              <a:t>Spilling combinatório — O(C(V,K)·N·V·(V+E))  onde K = max spills permitidos</a:t>
            </a:r>
          </a:p>
        </p:txBody>
      </p:sp>
      <p:sp>
        <p:nvSpPr>
          <p:cNvPr id="16" name="Text 14"/>
          <p:cNvSpPr/>
          <p:nvPr/>
        </p:nvSpPr>
        <p:spPr>
          <a:xfrm>
            <a:off x="640080" y="2600000"/>
            <a:ext cx="3657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17" name="Text 15"/>
          <p:cNvSpPr/>
          <p:nvPr/>
        </p:nvSpPr>
        <p:spPr>
          <a:xfrm>
            <a:off x="1078992" y="2590000"/>
            <a:ext cx="2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BEAFE"/>
                </a:solidFill>
                <a:latin typeface="Calibri" pitchFamily="34" charset="0"/>
              </a:rPr>
              <a:t>T2.3 — Splitting</a:t>
            </a:r>
          </a:p>
        </p:txBody>
      </p:sp>
      <p:sp>
        <p:nvSpPr>
          <p:cNvPr id="18" name="Text 16"/>
          <p:cNvSpPr/>
          <p:nvPr/>
        </p:nvSpPr>
        <p:spPr>
          <a:xfrm>
            <a:off x="1078992" y="2790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</a:rPr>
              <a:t>Splitting combinatório — O(C(V,K)·N·V·(V+E))  mesma estrutura do spilling + custo de reconstituição de webs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3040000"/>
            <a:ext cx="3657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A5E9"/>
                </a:solidFill>
                <a:latin typeface="Calibri" pitchFamily="34" charset="0"/>
              </a:rPr>
              <a:t>✓</a:t>
            </a:r>
          </a:p>
        </p:txBody>
      </p:sp>
      <p:sp>
        <p:nvSpPr>
          <p:cNvPr id="20" name="Text 18"/>
          <p:cNvSpPr/>
          <p:nvPr/>
        </p:nvSpPr>
        <p:spPr>
          <a:xfrm>
            <a:off x="1078992" y="3030000"/>
            <a:ext cx="2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DBEAFE"/>
                </a:solidFill>
                <a:latin typeface="Calibri" pitchFamily="34" charset="0"/>
              </a:rPr>
              <a:t>T2.4 — Livre (DSATUR)</a:t>
            </a:r>
          </a:p>
        </p:txBody>
      </p:sp>
      <p:sp>
        <p:nvSpPr>
          <p:cNvPr id="21" name="Text 19"/>
          <p:cNvSpPr/>
          <p:nvPr/>
        </p:nvSpPr>
        <p:spPr>
          <a:xfrm>
            <a:off x="1078992" y="3230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CCEE"/>
                </a:solidFill>
                <a:latin typeface="Calibri" pitchFamily="34" charset="0"/>
              </a:rPr>
              <a:t>DSATUR com backtracking — O(N·V!·(V+E)) pior caso; com spilling combinatório: O(C(V,V)·N·V!·(V+E))</a:t>
            </a:r>
          </a:p>
        </p:txBody>
      </p:sp>
      <p:sp>
        <p:nvSpPr>
          <p:cNvPr id="22" name="Shape 20"/>
          <p:cNvSpPr/>
          <p:nvPr/>
        </p:nvSpPr>
        <p:spPr>
          <a:xfrm>
            <a:off x="640080" y="4572000"/>
            <a:ext cx="7772400" cy="347472"/>
          </a:xfrm>
          <a:prstGeom prst="rect">
            <a:avLst/>
          </a:prstGeom>
          <a:solidFill>
            <a:srgbClr val="162D4A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pt-PT"/>
          </a:p>
        </p:txBody>
      </p:sp>
      <p:sp>
        <p:nvSpPr>
          <p:cNvPr id="23" name="Text 21"/>
          <p:cNvSpPr/>
          <p:nvPr/>
        </p:nvSpPr>
        <p:spPr>
          <a:xfrm>
            <a:off x="777240" y="4626864"/>
            <a:ext cx="7498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Desenho de Algoritmos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L.</a:t>
            </a: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EIC016 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1193</Words>
  <Application>Microsoft Macintosh PowerPoint</Application>
  <PresentationFormat>Apresentação no Ecrã (16:9)</PresentationFormat>
  <Paragraphs>221</Paragraphs>
  <Slides>10</Slides>
  <Notes>10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Register Allocation via Graph Coloring</dc:title>
  <dc:subject>PptxGenJS Presentation</dc:subject>
  <dc:creator>PptxGenJS</dc:creator>
  <cp:lastModifiedBy>Guilherme Martins da Silva</cp:lastModifiedBy>
  <cp:revision>4</cp:revision>
  <dcterms:created xsi:type="dcterms:W3CDTF">2026-05-15T15:28:16Z</dcterms:created>
  <dcterms:modified xsi:type="dcterms:W3CDTF">2026-05-17T18:33:36Z</dcterms:modified>
</cp:coreProperties>
</file>